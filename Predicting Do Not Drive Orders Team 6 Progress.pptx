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DM Sans" pitchFamily="34"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Introduce the team and the question: can we predict which vehicle recalls will escalate to a Do Not Drive advisory? Then move straight to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Most recalls are routine, but a Do Not Drive advisory means a vehicle should not be driven at all. It is rare and hard to spot. We ask three things: can we predict it, what drives it, and could it support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Two NHTSA flat files, cleaned from 327,036 to 252,573 rows across 18,999 campaigns. Only 0.83 percent are Do Not Drive. Inputs are the recall text, component, manufacturer, who influenced the recall, and the number of vehicles affected. We split by campaign to prevent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This is the partition. Same campaign never crosses splits. A side effect is that the test set has a higher Do Not Drive rate than training, which matters when we interpret model scores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First pattern: class imbalance. Only 0.83 percent of rows are Do Not Drive, and the rate climbs from 0.66 percent in training to 1.75 percent in test. A model that says never DND is 99 percent accurate, so we use precision, recall and PR-AUC.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Second pattern: which features separate DND from routine recalls. Yamaha and Mazda recalls are dramatically more likely to be DND, then vehicle names like Dodge and BMW. Steering wording is a smaller but broad signal. Protective cues like the word possibly point the other way. Caveat: some groups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Our direction is model-centered. A LightGBM classifier on TF-IDF text plus component, manufacturer and affected units. The first baseline reaches 0.73 PR-AUC and 92 percent precision on test, but only 47 percent recall, and validation PR-AUC was just 0.15, so we are not claiming stability yet. Next: threshold tuning, calibration, SHAP explanations, and possibly a triage queue for reviewers.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56469"/>
            <a:ext cx="10566400" cy="840135"/>
          </a:xfrm>
          <a:prstGeom prst="rect">
            <a:avLst/>
          </a:prstGeom>
          <a:noFill/>
          <a:ln/>
        </p:spPr>
        <p:txBody>
          <a:bodyPr wrap="square" lIns="0" tIns="0" rIns="0" bIns="0" rtlCol="0" anchor="t"/>
          <a:lstStyle>
            <a:lvl1pPr algn="l" indent="0" marL="0">
              <a:lnSpc>
                <a:spcPct val="115000"/>
              </a:lnSpc>
              <a:buNone/>
              <a:defRPr lang="en-US" sz="3476"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476" dirty="0"/>
          </a:p>
        </p:txBody>
      </p:sp>
      <p:sp>
        <p:nvSpPr>
          <p:cNvPr id="3" name="Text Placeholder 2"/>
          <p:cNvSpPr/>
          <p:nvPr>
            <p:ph idx="101" type="body"/>
          </p:nvPr>
        </p:nvSpPr>
        <p:spPr>
          <a:xfrm>
            <a:off x="812800" y="2501404"/>
            <a:ext cx="10566400" cy="354379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56469"/>
            <a:ext cx="10566400" cy="840135"/>
          </a:xfrm>
          <a:prstGeom prst="rect">
            <a:avLst/>
          </a:prstGeom>
          <a:noFill/>
          <a:ln/>
        </p:spPr>
        <p:txBody>
          <a:bodyPr wrap="square" lIns="0" tIns="0" rIns="0" bIns="0" rtlCol="0" anchor="t"/>
          <a:lstStyle>
            <a:lvl1pPr algn="l" indent="0" marL="0">
              <a:lnSpc>
                <a:spcPct val="115000"/>
              </a:lnSpc>
              <a:buNone/>
              <a:defRPr lang="en-US" sz="3476"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476" dirty="0"/>
          </a:p>
        </p:txBody>
      </p:sp>
      <p:sp>
        <p:nvSpPr>
          <p:cNvPr id="3" name="Text Placeholder 2"/>
          <p:cNvSpPr/>
          <p:nvPr>
            <p:ph idx="101" type="body"/>
          </p:nvPr>
        </p:nvSpPr>
        <p:spPr>
          <a:xfrm>
            <a:off x="812800" y="2501404"/>
            <a:ext cx="10566400" cy="354379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1860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59E6B"/>
                </a:solidFill>
                <a:latin typeface="DM Sans" pitchFamily="34" charset="0"/>
                <a:ea typeface="DM Sans" pitchFamily="34" charset="-122"/>
                <a:cs typeface="DM Sans" pitchFamily="34" charset="-120"/>
              </a:rPr>
              <a:t>BUSINESS INTELLIGENCE · TEAM 6 · PROJECT UPDATE</a:t>
            </a:r>
            <a:endParaRPr lang="en-US" sz="1400" dirty="0"/>
          </a:p>
        </p:txBody>
      </p:sp>
      <p:sp>
        <p:nvSpPr>
          <p:cNvPr id="3" name="Text 1"/>
          <p:cNvSpPr/>
          <p:nvPr>
            <p:ph type="title"/>
          </p:nvPr>
        </p:nvSpPr>
        <p:spPr>
          <a:xfrm>
            <a:off x="812800" y="2521496"/>
            <a:ext cx="10883392" cy="1451769"/>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6F5F1"/>
                </a:solidFill>
                <a:latin typeface="DM Sans" pitchFamily="34" charset="0"/>
                <a:ea typeface="DM Sans" pitchFamily="34" charset="-122"/>
                <a:cs typeface="DM Sans" pitchFamily="34" charset="-120"/>
              </a:rPr>
              <a:t>Predicting “Do Not Drive” Orders from Vehicle Recall Data</a:t>
            </a:r>
            <a:endParaRPr lang="en-US" sz="5200" dirty="0"/>
          </a:p>
        </p:txBody>
      </p:sp>
      <p:sp>
        <p:nvSpPr>
          <p:cNvPr id="4" name="Shape 2"/>
          <p:cNvSpPr/>
          <p:nvPr/>
        </p:nvSpPr>
        <p:spPr>
          <a:xfrm>
            <a:off x="812800" y="4201864"/>
            <a:ext cx="1016000" cy="63500"/>
          </a:xfrm>
          <a:prstGeom prst="roundRect">
            <a:avLst>
              <a:gd name="adj" fmla="val 50000"/>
            </a:avLst>
          </a:prstGeom>
          <a:solidFill>
            <a:srgbClr val="F59E6B"/>
          </a:solidFill>
          <a:ln/>
        </p:spPr>
      </p:sp>
      <p:sp>
        <p:nvSpPr>
          <p:cNvPr id="5" name="Text 3"/>
          <p:cNvSpPr/>
          <p:nvPr/>
        </p:nvSpPr>
        <p:spPr>
          <a:xfrm>
            <a:off x="812800" y="4519364"/>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1DF"/>
                </a:solidFill>
                <a:latin typeface="DM Sans" pitchFamily="34" charset="0"/>
                <a:ea typeface="DM Sans" pitchFamily="34" charset="-122"/>
                <a:cs typeface="DM Sans" pitchFamily="34" charset="-120"/>
              </a:rPr>
              <a:t>Team 6 · Course 39122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400F"/>
                </a:solidFill>
                <a:latin typeface="DM Sans" pitchFamily="34" charset="0"/>
                <a:ea typeface="DM Sans" pitchFamily="34" charset="-122"/>
                <a:cs typeface="DM Sans" pitchFamily="34" charset="-120"/>
              </a:rPr>
              <a:t>1 · CONTEXT AND QUESTIONS</a:t>
            </a:r>
            <a:endParaRPr lang="en-US" sz="1400" dirty="0"/>
          </a:p>
        </p:txBody>
      </p:sp>
      <p:sp>
        <p:nvSpPr>
          <p:cNvPr id="3" name="Text 1"/>
          <p:cNvSpPr/>
          <p:nvPr>
            <p:ph type="title"/>
          </p:nvPr>
        </p:nvSpPr>
        <p:spPr>
          <a:xfrm>
            <a:off x="812800" y="136649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Most recalls are routine. A few mean “stop driving this vehicle now.”</a:t>
            </a:r>
            <a:endParaRPr lang="en-US" sz="3600" dirty="0"/>
          </a:p>
        </p:txBody>
      </p:sp>
      <p:sp>
        <p:nvSpPr>
          <p:cNvPr id="4" name="Text 2"/>
          <p:cNvSpPr/>
          <p:nvPr/>
        </p:nvSpPr>
        <p:spPr>
          <a:xfrm>
            <a:off x="812800" y="267707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3B4663"/>
                </a:solidFill>
                <a:latin typeface="DM Sans" pitchFamily="34" charset="0"/>
                <a:ea typeface="DM Sans" pitchFamily="34" charset="-122"/>
                <a:cs typeface="DM Sans" pitchFamily="34" charset="-120"/>
              </a:rPr>
              <a:t>A Do Not Drive (DND) advisory is the most urgent recall signal. It is rare, and it is easy to miss in a quarter-million recall records.</a:t>
            </a:r>
            <a:endParaRPr lang="en-US" sz="1800" dirty="0"/>
          </a:p>
        </p:txBody>
      </p:sp>
      <p:sp>
        <p:nvSpPr>
          <p:cNvPr id="5" name="Shape 3"/>
          <p:cNvSpPr/>
          <p:nvPr/>
        </p:nvSpPr>
        <p:spPr>
          <a:xfrm>
            <a:off x="812800" y="3599011"/>
            <a:ext cx="3352800" cy="1813471"/>
          </a:xfrm>
          <a:prstGeom prst="roundRect">
            <a:avLst>
              <a:gd name="adj" fmla="val 7003"/>
            </a:avLst>
          </a:prstGeom>
          <a:solidFill>
            <a:srgbClr val="FFFFFF"/>
          </a:solidFill>
          <a:ln/>
        </p:spPr>
      </p:sp>
      <p:sp>
        <p:nvSpPr>
          <p:cNvPr id="6" name="Shape 4"/>
          <p:cNvSpPr/>
          <p:nvPr/>
        </p:nvSpPr>
        <p:spPr>
          <a:xfrm>
            <a:off x="812800" y="3599011"/>
            <a:ext cx="3352800" cy="1813471"/>
          </a:xfrm>
          <a:custGeom>
            <a:avLst/>
            <a:gdLst/>
            <a:ahLst/>
            <a:cxnLst/>
            <a:rect l="l" t="t" r="r" b="b"/>
            <a:pathLst>
              <a:path w="3352800" h="1813471">
                <a:moveTo>
                  <a:pt x="0" y="127000"/>
                </a:moveTo>
                <a:lnTo>
                  <a:pt x="0" y="127000"/>
                </a:lnTo>
                <a:arcTo hR="127000" wR="127000" stAng="10800000" swAng="5400000"/>
                <a:lnTo>
                  <a:pt x="3225800" y="0"/>
                </a:lnTo>
                <a:arcTo hR="127000" wR="127000" stAng="16200000" swAng="5400000"/>
                <a:lnTo>
                  <a:pt x="3352800" y="127000"/>
                </a:lnTo>
                <a:arcTo hR="63500" wR="127000" stAng="0" swAng="-5400000"/>
                <a:lnTo>
                  <a:pt x="127000" y="63500"/>
                </a:lnTo>
                <a:arcTo hR="63500" wR="127000" stAng="16200000" swAng="-5400000"/>
                <a:close/>
              </a:path>
            </a:pathLst>
          </a:custGeom>
          <a:solidFill>
            <a:srgbClr val="B4400F"/>
          </a:solidFill>
          <a:ln/>
        </p:spPr>
      </p:sp>
      <p:sp>
        <p:nvSpPr>
          <p:cNvPr id="7" name="Text 5"/>
          <p:cNvSpPr/>
          <p:nvPr/>
        </p:nvSpPr>
        <p:spPr>
          <a:xfrm>
            <a:off x="1066800" y="3916511"/>
            <a:ext cx="293014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400F"/>
                </a:solidFill>
                <a:latin typeface="DM Sans" pitchFamily="34" charset="0"/>
                <a:ea typeface="DM Sans" pitchFamily="34" charset="-122"/>
                <a:cs typeface="DM Sans" pitchFamily="34" charset="-120"/>
              </a:rPr>
              <a:t>Q1 · Feasibility</a:t>
            </a:r>
            <a:endParaRPr lang="en-US" sz="1400" dirty="0"/>
          </a:p>
        </p:txBody>
      </p:sp>
      <p:sp>
        <p:nvSpPr>
          <p:cNvPr id="8" name="Text 6"/>
          <p:cNvSpPr/>
          <p:nvPr/>
        </p:nvSpPr>
        <p:spPr>
          <a:xfrm>
            <a:off x="1066800" y="4267002"/>
            <a:ext cx="2930144"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DM Sans" pitchFamily="34" charset="0"/>
                <a:ea typeface="DM Sans" pitchFamily="34" charset="-122"/>
                <a:cs typeface="DM Sans" pitchFamily="34" charset="-120"/>
              </a:rPr>
              <a:t>Can we predict a DND advisory from recall data?</a:t>
            </a:r>
            <a:endParaRPr lang="en-US" sz="1800" dirty="0"/>
          </a:p>
        </p:txBody>
      </p:sp>
      <p:sp>
        <p:nvSpPr>
          <p:cNvPr id="9" name="Shape 7"/>
          <p:cNvSpPr/>
          <p:nvPr/>
        </p:nvSpPr>
        <p:spPr>
          <a:xfrm>
            <a:off x="4419600" y="3599011"/>
            <a:ext cx="3352800" cy="1813471"/>
          </a:xfrm>
          <a:prstGeom prst="roundRect">
            <a:avLst>
              <a:gd name="adj" fmla="val 7003"/>
            </a:avLst>
          </a:prstGeom>
          <a:solidFill>
            <a:srgbClr val="FFFFFF"/>
          </a:solidFill>
          <a:ln/>
        </p:spPr>
      </p:sp>
      <p:sp>
        <p:nvSpPr>
          <p:cNvPr id="10" name="Shape 8"/>
          <p:cNvSpPr/>
          <p:nvPr/>
        </p:nvSpPr>
        <p:spPr>
          <a:xfrm>
            <a:off x="4419600" y="3599011"/>
            <a:ext cx="3352800" cy="1813471"/>
          </a:xfrm>
          <a:custGeom>
            <a:avLst/>
            <a:gdLst/>
            <a:ahLst/>
            <a:cxnLst/>
            <a:rect l="l" t="t" r="r" b="b"/>
            <a:pathLst>
              <a:path w="3352800" h="1813471">
                <a:moveTo>
                  <a:pt x="0" y="127000"/>
                </a:moveTo>
                <a:lnTo>
                  <a:pt x="0" y="127000"/>
                </a:lnTo>
                <a:arcTo hR="127000" wR="127000" stAng="10800000" swAng="5400000"/>
                <a:lnTo>
                  <a:pt x="3225800" y="0"/>
                </a:lnTo>
                <a:arcTo hR="127000" wR="127000" stAng="16200000" swAng="5400000"/>
                <a:lnTo>
                  <a:pt x="3352800" y="127000"/>
                </a:lnTo>
                <a:arcTo hR="63500" wR="127000" stAng="0" swAng="-5400000"/>
                <a:lnTo>
                  <a:pt x="127000" y="63500"/>
                </a:lnTo>
                <a:arcTo hR="63500" wR="127000" stAng="16200000" swAng="-5400000"/>
                <a:close/>
              </a:path>
            </a:pathLst>
          </a:custGeom>
          <a:solidFill>
            <a:srgbClr val="B4400F"/>
          </a:solidFill>
          <a:ln/>
        </p:spPr>
      </p:sp>
      <p:sp>
        <p:nvSpPr>
          <p:cNvPr id="11" name="Text 9"/>
          <p:cNvSpPr/>
          <p:nvPr/>
        </p:nvSpPr>
        <p:spPr>
          <a:xfrm>
            <a:off x="4673600" y="3916511"/>
            <a:ext cx="293014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400F"/>
                </a:solidFill>
                <a:latin typeface="DM Sans" pitchFamily="34" charset="0"/>
                <a:ea typeface="DM Sans" pitchFamily="34" charset="-122"/>
                <a:cs typeface="DM Sans" pitchFamily="34" charset="-120"/>
              </a:rPr>
              <a:t>Q2 · Risk drivers</a:t>
            </a:r>
            <a:endParaRPr lang="en-US" sz="1400" dirty="0"/>
          </a:p>
        </p:txBody>
      </p:sp>
      <p:sp>
        <p:nvSpPr>
          <p:cNvPr id="12" name="Text 10"/>
          <p:cNvSpPr/>
          <p:nvPr/>
        </p:nvSpPr>
        <p:spPr>
          <a:xfrm>
            <a:off x="4673600" y="4267002"/>
            <a:ext cx="2930144"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DM Sans" pitchFamily="34" charset="0"/>
                <a:ea typeface="DM Sans" pitchFamily="34" charset="-122"/>
                <a:cs typeface="DM Sans" pitchFamily="34" charset="-120"/>
              </a:rPr>
              <a:t>Which manufacturers, components and wording signal risk?</a:t>
            </a:r>
            <a:endParaRPr lang="en-US" sz="1800" dirty="0"/>
          </a:p>
        </p:txBody>
      </p:sp>
      <p:sp>
        <p:nvSpPr>
          <p:cNvPr id="13" name="Shape 11"/>
          <p:cNvSpPr/>
          <p:nvPr/>
        </p:nvSpPr>
        <p:spPr>
          <a:xfrm>
            <a:off x="8026400" y="3599011"/>
            <a:ext cx="3352800" cy="1813471"/>
          </a:xfrm>
          <a:prstGeom prst="roundRect">
            <a:avLst>
              <a:gd name="adj" fmla="val 7003"/>
            </a:avLst>
          </a:prstGeom>
          <a:solidFill>
            <a:srgbClr val="FFFFFF"/>
          </a:solidFill>
          <a:ln/>
        </p:spPr>
      </p:sp>
      <p:sp>
        <p:nvSpPr>
          <p:cNvPr id="14" name="Shape 12"/>
          <p:cNvSpPr/>
          <p:nvPr/>
        </p:nvSpPr>
        <p:spPr>
          <a:xfrm>
            <a:off x="8026400" y="3599011"/>
            <a:ext cx="3352800" cy="1813471"/>
          </a:xfrm>
          <a:custGeom>
            <a:avLst/>
            <a:gdLst/>
            <a:ahLst/>
            <a:cxnLst/>
            <a:rect l="l" t="t" r="r" b="b"/>
            <a:pathLst>
              <a:path w="3352800" h="1813471">
                <a:moveTo>
                  <a:pt x="0" y="127000"/>
                </a:moveTo>
                <a:lnTo>
                  <a:pt x="0" y="127000"/>
                </a:lnTo>
                <a:arcTo hR="127000" wR="127000" stAng="10800000" swAng="5400000"/>
                <a:lnTo>
                  <a:pt x="3225800" y="0"/>
                </a:lnTo>
                <a:arcTo hR="127000" wR="127000" stAng="16200000" swAng="5400000"/>
                <a:lnTo>
                  <a:pt x="3352800" y="127000"/>
                </a:lnTo>
                <a:arcTo hR="63500" wR="127000" stAng="0" swAng="-5400000"/>
                <a:lnTo>
                  <a:pt x="127000" y="63500"/>
                </a:lnTo>
                <a:arcTo hR="63500" wR="127000" stAng="16200000" swAng="-5400000"/>
                <a:close/>
              </a:path>
            </a:pathLst>
          </a:custGeom>
          <a:solidFill>
            <a:srgbClr val="B4400F"/>
          </a:solidFill>
          <a:ln/>
        </p:spPr>
      </p:sp>
      <p:sp>
        <p:nvSpPr>
          <p:cNvPr id="15" name="Text 13"/>
          <p:cNvSpPr/>
          <p:nvPr/>
        </p:nvSpPr>
        <p:spPr>
          <a:xfrm>
            <a:off x="8280400" y="3916511"/>
            <a:ext cx="293014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400F"/>
                </a:solidFill>
                <a:latin typeface="DM Sans" pitchFamily="34" charset="0"/>
                <a:ea typeface="DM Sans" pitchFamily="34" charset="-122"/>
                <a:cs typeface="DM Sans" pitchFamily="34" charset="-120"/>
              </a:rPr>
              <a:t>Q3 · Triage use</a:t>
            </a:r>
            <a:endParaRPr lang="en-US" sz="1400" dirty="0"/>
          </a:p>
        </p:txBody>
      </p:sp>
      <p:sp>
        <p:nvSpPr>
          <p:cNvPr id="16" name="Text 14"/>
          <p:cNvSpPr/>
          <p:nvPr/>
        </p:nvSpPr>
        <p:spPr>
          <a:xfrm>
            <a:off x="8280400" y="4267002"/>
            <a:ext cx="2930144"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DM Sans" pitchFamily="34" charset="0"/>
                <a:ea typeface="DM Sans" pitchFamily="34" charset="-122"/>
                <a:cs typeface="DM Sans" pitchFamily="34" charset="-120"/>
              </a:rPr>
              <a:t>Is it precise enough to help reviewers prioritize?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B4400F"/>
                </a:solidFill>
                <a:latin typeface="DM Sans" pitchFamily="34" charset="0"/>
                <a:ea typeface="DM Sans" pitchFamily="34" charset="-122"/>
                <a:cs typeface="DM Sans" pitchFamily="34" charset="-120"/>
              </a:rPr>
              <a:t>2 · DATA AND VARIABLES</a:t>
            </a:r>
            <a:endParaRPr lang="en-US" sz="1400" dirty="0"/>
          </a:p>
        </p:txBody>
      </p:sp>
      <p:sp>
        <p:nvSpPr>
          <p:cNvPr id="3" name="Text 1"/>
          <p:cNvSpPr/>
          <p:nvPr>
            <p:ph type="title"/>
          </p:nvPr>
        </p:nvSpPr>
        <p:spPr>
          <a:xfrm>
            <a:off x="812800" y="13664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NHTSA recall files, cleaned to 252,573 records</a:t>
            </a:r>
            <a:endParaRPr lang="en-US" sz="3600" dirty="0"/>
          </a:p>
        </p:txBody>
      </p:sp>
      <p:sp>
        <p:nvSpPr>
          <p:cNvPr id="4" name="Shape 2"/>
          <p:cNvSpPr/>
          <p:nvPr/>
        </p:nvSpPr>
        <p:spPr>
          <a:xfrm>
            <a:off x="812800" y="2174180"/>
            <a:ext cx="3352800" cy="1666180"/>
          </a:xfrm>
          <a:prstGeom prst="roundRect">
            <a:avLst>
              <a:gd name="adj" fmla="val 7622"/>
            </a:avLst>
          </a:prstGeom>
          <a:solidFill>
            <a:srgbClr val="FFFFFF"/>
          </a:solidFill>
          <a:ln/>
        </p:spPr>
      </p:sp>
      <p:sp>
        <p:nvSpPr>
          <p:cNvPr id="5" name="Text 3"/>
          <p:cNvSpPr/>
          <p:nvPr/>
        </p:nvSpPr>
        <p:spPr>
          <a:xfrm>
            <a:off x="1066800" y="2428180"/>
            <a:ext cx="29301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3D"/>
                </a:solidFill>
                <a:latin typeface="DM Sans" pitchFamily="34" charset="0"/>
                <a:ea typeface="DM Sans" pitchFamily="34" charset="-122"/>
                <a:cs typeface="DM Sans" pitchFamily="34" charset="-120"/>
              </a:rPr>
              <a:t>252,573</a:t>
            </a:r>
            <a:endParaRPr lang="en-US" sz="4800" dirty="0"/>
          </a:p>
        </p:txBody>
      </p:sp>
      <p:sp>
        <p:nvSpPr>
          <p:cNvPr id="6" name="Text 4"/>
          <p:cNvSpPr/>
          <p:nvPr/>
        </p:nvSpPr>
        <p:spPr>
          <a:xfrm>
            <a:off x="1066800" y="3088580"/>
            <a:ext cx="29301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663"/>
                </a:solidFill>
                <a:latin typeface="DM Sans" pitchFamily="34" charset="0"/>
                <a:ea typeface="DM Sans" pitchFamily="34" charset="-122"/>
                <a:cs typeface="DM Sans" pitchFamily="34" charset="-120"/>
              </a:rPr>
              <a:t>rows after sanitizing 327,036 raw rows (pre- and post-2010 files)</a:t>
            </a:r>
            <a:endParaRPr lang="en-US" sz="1400" dirty="0"/>
          </a:p>
        </p:txBody>
      </p:sp>
      <p:sp>
        <p:nvSpPr>
          <p:cNvPr id="7" name="Shape 5"/>
          <p:cNvSpPr/>
          <p:nvPr/>
        </p:nvSpPr>
        <p:spPr>
          <a:xfrm>
            <a:off x="4419600" y="2174180"/>
            <a:ext cx="3352800" cy="1666180"/>
          </a:xfrm>
          <a:prstGeom prst="roundRect">
            <a:avLst>
              <a:gd name="adj" fmla="val 7622"/>
            </a:avLst>
          </a:prstGeom>
          <a:solidFill>
            <a:srgbClr val="FFFFFF"/>
          </a:solidFill>
          <a:ln/>
        </p:spPr>
      </p:sp>
      <p:sp>
        <p:nvSpPr>
          <p:cNvPr id="8" name="Text 6"/>
          <p:cNvSpPr/>
          <p:nvPr/>
        </p:nvSpPr>
        <p:spPr>
          <a:xfrm>
            <a:off x="4673600" y="2428180"/>
            <a:ext cx="29301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3D"/>
                </a:solidFill>
                <a:latin typeface="DM Sans" pitchFamily="34" charset="0"/>
                <a:ea typeface="DM Sans" pitchFamily="34" charset="-122"/>
                <a:cs typeface="DM Sans" pitchFamily="34" charset="-120"/>
              </a:rPr>
              <a:t>18,999</a:t>
            </a:r>
            <a:endParaRPr lang="en-US" sz="4800" dirty="0"/>
          </a:p>
        </p:txBody>
      </p:sp>
      <p:sp>
        <p:nvSpPr>
          <p:cNvPr id="9" name="Text 7"/>
          <p:cNvSpPr/>
          <p:nvPr/>
        </p:nvSpPr>
        <p:spPr>
          <a:xfrm>
            <a:off x="4673600" y="3088580"/>
            <a:ext cx="29301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663"/>
                </a:solidFill>
                <a:latin typeface="DM Sans" pitchFamily="34" charset="0"/>
                <a:ea typeface="DM Sans" pitchFamily="34" charset="-122"/>
                <a:cs typeface="DM Sans" pitchFamily="34" charset="-120"/>
              </a:rPr>
              <a:t>recall campaigns, each with many rows</a:t>
            </a:r>
            <a:endParaRPr lang="en-US" sz="1400" dirty="0"/>
          </a:p>
        </p:txBody>
      </p:sp>
      <p:sp>
        <p:nvSpPr>
          <p:cNvPr id="10" name="Shape 8"/>
          <p:cNvSpPr/>
          <p:nvPr/>
        </p:nvSpPr>
        <p:spPr>
          <a:xfrm>
            <a:off x="8026400" y="2174180"/>
            <a:ext cx="3352800" cy="1666180"/>
          </a:xfrm>
          <a:prstGeom prst="roundRect">
            <a:avLst>
              <a:gd name="adj" fmla="val 7622"/>
            </a:avLst>
          </a:prstGeom>
          <a:solidFill>
            <a:srgbClr val="FFFFFF"/>
          </a:solidFill>
          <a:ln/>
        </p:spPr>
      </p:sp>
      <p:sp>
        <p:nvSpPr>
          <p:cNvPr id="11" name="Text 9"/>
          <p:cNvSpPr/>
          <p:nvPr/>
        </p:nvSpPr>
        <p:spPr>
          <a:xfrm>
            <a:off x="8280400" y="2428180"/>
            <a:ext cx="29301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4400F"/>
                </a:solidFill>
                <a:latin typeface="DM Sans" pitchFamily="34" charset="0"/>
                <a:ea typeface="DM Sans" pitchFamily="34" charset="-122"/>
                <a:cs typeface="DM Sans" pitchFamily="34" charset="-120"/>
              </a:rPr>
              <a:t>0.83%</a:t>
            </a:r>
            <a:endParaRPr lang="en-US" sz="4800" dirty="0"/>
          </a:p>
        </p:txBody>
      </p:sp>
      <p:sp>
        <p:nvSpPr>
          <p:cNvPr id="12" name="Text 10"/>
          <p:cNvSpPr/>
          <p:nvPr/>
        </p:nvSpPr>
        <p:spPr>
          <a:xfrm>
            <a:off x="8280400" y="3088580"/>
            <a:ext cx="29301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663"/>
                </a:solidFill>
                <a:latin typeface="DM Sans" pitchFamily="34" charset="0"/>
                <a:ea typeface="DM Sans" pitchFamily="34" charset="-122"/>
                <a:cs typeface="DM Sans" pitchFamily="34" charset="-120"/>
              </a:rPr>
              <a:t>of rows carry a DND advisory (the target)</a:t>
            </a:r>
            <a:endParaRPr lang="en-US" sz="1400" dirty="0"/>
          </a:p>
        </p:txBody>
      </p:sp>
      <p:sp>
        <p:nvSpPr>
          <p:cNvPr id="13" name="Text 11"/>
          <p:cNvSpPr/>
          <p:nvPr/>
        </p:nvSpPr>
        <p:spPr>
          <a:xfrm>
            <a:off x="812800" y="4145161"/>
            <a:ext cx="10883392" cy="66546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Inputs:</a:t>
            </a:r>
            <a:r>
              <a:rPr lang="en-US" sz="1800" dirty="0">
                <a:solidFill>
                  <a:srgbClr val="14213D"/>
                </a:solidFill>
                <a:latin typeface="DM Sans" pitchFamily="34" charset="0"/>
                <a:ea typeface="DM Sans" pitchFamily="34" charset="-122"/>
                <a:cs typeface="DM Sans" pitchFamily="34" charset="-120"/>
              </a:rPr>
              <a:t> recall description text (1,000 TF-IDF terms), component, manufacturer, “influenced by,” and log of potentially affected units.</a:t>
            </a:r>
            <a:endParaRPr lang="en-US" sz="1800" dirty="0"/>
          </a:p>
        </p:txBody>
      </p:sp>
      <p:sp>
        <p:nvSpPr>
          <p:cNvPr id="14" name="Text 12"/>
          <p:cNvSpPr/>
          <p:nvPr/>
        </p:nvSpPr>
        <p:spPr>
          <a:xfrm>
            <a:off x="812800" y="5090021"/>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Split by campaign</a:t>
            </a:r>
            <a:r>
              <a:rPr lang="en-US" sz="1800" dirty="0">
                <a:solidFill>
                  <a:srgbClr val="14213D"/>
                </a:solidFill>
                <a:latin typeface="DM Sans" pitchFamily="34" charset="0"/>
                <a:ea typeface="DM Sans" pitchFamily="34" charset="-122"/>
                <a:cs typeface="DM Sans" pitchFamily="34" charset="-120"/>
              </a:rPr>
              <a:t> (70/15/15) so rows from one campaign never land in both training and test.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3454"/>
          </a:xfrm>
          <a:prstGeom prst="rect">
            <a:avLst/>
          </a:prstGeom>
          <a:noFill/>
          <a:ln/>
        </p:spPr>
        <p:txBody>
          <a:bodyPr wrap="square" lIns="0" tIns="0" rIns="0" bIns="0" rtlCol="0" anchor="t">
            <a:normAutofit/>
          </a:bodyPr>
          <a:lstStyle/>
          <a:p>
            <a:pPr algn="l" indent="0" marL="0">
              <a:lnSpc>
                <a:spcPts val="1819"/>
              </a:lnSpc>
              <a:buNone/>
            </a:pPr>
            <a:r>
              <a:rPr lang="en-US" sz="1299" b="1" spc="150" kern="0" dirty="0">
                <a:solidFill>
                  <a:srgbClr val="B4400F"/>
                </a:solidFill>
                <a:latin typeface="DM Sans" pitchFamily="34" charset="0"/>
                <a:ea typeface="DM Sans" pitchFamily="34" charset="-122"/>
                <a:cs typeface="DM Sans" pitchFamily="34" charset="-120"/>
              </a:rPr>
              <a:t>2 · DATA AND VARIABLES</a:t>
            </a:r>
            <a:endParaRPr lang="en-US" sz="1299" dirty="0"/>
          </a:p>
        </p:txBody>
      </p:sp>
      <p:sp>
        <p:nvSpPr>
          <p:cNvPr id="3" name="Text 1"/>
          <p:cNvSpPr/>
          <p:nvPr>
            <p:ph type="title"/>
          </p:nvPr>
        </p:nvSpPr>
        <p:spPr>
          <a:xfrm>
            <a:off x="812800" y="1345654"/>
            <a:ext cx="10883392" cy="947043"/>
          </a:xfrm>
          <a:prstGeom prst="rect">
            <a:avLst/>
          </a:prstGeom>
          <a:noFill/>
          <a:ln/>
        </p:spPr>
        <p:txBody>
          <a:bodyPr wrap="square" lIns="0" tIns="0" rIns="0" bIns="0" rtlCol="0" anchor="t">
            <a:normAutofit/>
          </a:bodyPr>
          <a:lstStyle/>
          <a:p>
            <a:pPr algn="l" indent="0" marL="0">
              <a:lnSpc>
                <a:spcPts val="3626"/>
              </a:lnSpc>
              <a:buNone/>
            </a:pPr>
            <a:r>
              <a:rPr lang="en-US" sz="3296" b="1" i="0" dirty="0">
                <a:solidFill>
                  <a:srgbClr val="14213D"/>
                </a:solidFill>
                <a:latin typeface="DM Sans" pitchFamily="34" charset="0"/>
                <a:ea typeface="DM Sans" pitchFamily="34" charset="-122"/>
                <a:cs typeface="DM Sans" pitchFamily="34" charset="-120"/>
              </a:rPr>
              <a:t>Campaign-grouped split: 70% train, 15% validation, 15% test</a:t>
            </a:r>
            <a:endParaRPr lang="en-US" sz="3296" dirty="0"/>
          </a:p>
        </p:txBody>
      </p:sp>
      <p:sp>
        <p:nvSpPr>
          <p:cNvPr id="4" name="Shape 2"/>
          <p:cNvSpPr/>
          <p:nvPr/>
        </p:nvSpPr>
        <p:spPr>
          <a:xfrm>
            <a:off x="812800" y="2572097"/>
            <a:ext cx="10566400" cy="2378571"/>
          </a:xfrm>
          <a:prstGeom prst="roundRect">
            <a:avLst>
              <a:gd name="adj" fmla="val 5339"/>
            </a:avLst>
          </a:prstGeom>
          <a:solidFill>
            <a:srgbClr val="FFFFFF"/>
          </a:solidFill>
          <a:ln/>
        </p:spPr>
      </p:sp>
      <p:sp>
        <p:nvSpPr>
          <p:cNvPr id="5" name="Shape 3"/>
          <p:cNvSpPr/>
          <p:nvPr/>
        </p:nvSpPr>
        <p:spPr>
          <a:xfrm>
            <a:off x="1066800" y="3194745"/>
            <a:ext cx="10058400" cy="0"/>
          </a:xfrm>
          <a:prstGeom prst="line">
            <a:avLst/>
          </a:prstGeom>
          <a:noFill/>
          <a:ln w="12700">
            <a:solidFill>
              <a:srgbClr val="D9D6CC"/>
            </a:solidFill>
            <a:prstDash val="solid"/>
          </a:ln>
        </p:spPr>
      </p:sp>
      <p:sp>
        <p:nvSpPr>
          <p:cNvPr id="6" name="Text 4"/>
          <p:cNvSpPr/>
          <p:nvPr/>
        </p:nvSpPr>
        <p:spPr>
          <a:xfrm>
            <a:off x="1066800" y="2851497"/>
            <a:ext cx="3139440" cy="235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4663"/>
                </a:solidFill>
                <a:latin typeface="DM Sans" pitchFamily="34" charset="0"/>
                <a:ea typeface="DM Sans" pitchFamily="34" charset="-122"/>
                <a:cs typeface="DM Sans" pitchFamily="34" charset="-120"/>
              </a:rPr>
              <a:t>Split</a:t>
            </a:r>
            <a:endParaRPr lang="en-US" sz="1400" dirty="0"/>
          </a:p>
        </p:txBody>
      </p:sp>
      <p:sp>
        <p:nvSpPr>
          <p:cNvPr id="7" name="Text 5"/>
          <p:cNvSpPr/>
          <p:nvPr/>
        </p:nvSpPr>
        <p:spPr>
          <a:xfrm>
            <a:off x="4114800" y="2851497"/>
            <a:ext cx="3139440" cy="235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4663"/>
                </a:solidFill>
                <a:latin typeface="DM Sans" pitchFamily="34" charset="0"/>
                <a:ea typeface="DM Sans" pitchFamily="34" charset="-122"/>
                <a:cs typeface="DM Sans" pitchFamily="34" charset="-120"/>
              </a:rPr>
              <a:t>Rows</a:t>
            </a:r>
            <a:endParaRPr lang="en-US" sz="1400" dirty="0"/>
          </a:p>
        </p:txBody>
      </p:sp>
      <p:sp>
        <p:nvSpPr>
          <p:cNvPr id="8" name="Text 6"/>
          <p:cNvSpPr/>
          <p:nvPr/>
        </p:nvSpPr>
        <p:spPr>
          <a:xfrm>
            <a:off x="7162800" y="2851497"/>
            <a:ext cx="3139440" cy="235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B4663"/>
                </a:solidFill>
                <a:latin typeface="DM Sans" pitchFamily="34" charset="0"/>
                <a:ea typeface="DM Sans" pitchFamily="34" charset="-122"/>
                <a:cs typeface="DM Sans" pitchFamily="34" charset="-120"/>
              </a:rPr>
              <a:t>DND rows (rate)</a:t>
            </a:r>
            <a:endParaRPr lang="en-US" sz="1400" dirty="0"/>
          </a:p>
        </p:txBody>
      </p:sp>
      <p:sp>
        <p:nvSpPr>
          <p:cNvPr id="9" name="Shape 7"/>
          <p:cNvSpPr/>
          <p:nvPr/>
        </p:nvSpPr>
        <p:spPr>
          <a:xfrm>
            <a:off x="1066800" y="3731369"/>
            <a:ext cx="10058400" cy="0"/>
          </a:xfrm>
          <a:prstGeom prst="line">
            <a:avLst/>
          </a:prstGeom>
          <a:noFill/>
          <a:ln w="12700">
            <a:solidFill>
              <a:srgbClr val="D9D6CC"/>
            </a:solidFill>
            <a:prstDash val="solid"/>
          </a:ln>
        </p:spPr>
      </p:sp>
      <p:sp>
        <p:nvSpPr>
          <p:cNvPr id="10" name="Text 8"/>
          <p:cNvSpPr/>
          <p:nvPr/>
        </p:nvSpPr>
        <p:spPr>
          <a:xfrm>
            <a:off x="1066800" y="3328095"/>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Train</a:t>
            </a:r>
            <a:endParaRPr lang="en-US" sz="1800" dirty="0"/>
          </a:p>
        </p:txBody>
      </p:sp>
      <p:sp>
        <p:nvSpPr>
          <p:cNvPr id="11" name="Text 9"/>
          <p:cNvSpPr/>
          <p:nvPr/>
        </p:nvSpPr>
        <p:spPr>
          <a:xfrm>
            <a:off x="4114800" y="3328095"/>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189,615</a:t>
            </a:r>
            <a:endParaRPr lang="en-US" sz="1800" dirty="0"/>
          </a:p>
        </p:txBody>
      </p:sp>
      <p:sp>
        <p:nvSpPr>
          <p:cNvPr id="12" name="Text 10"/>
          <p:cNvSpPr/>
          <p:nvPr/>
        </p:nvSpPr>
        <p:spPr>
          <a:xfrm>
            <a:off x="7162800" y="3328095"/>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1,248 (0.66%)</a:t>
            </a:r>
            <a:endParaRPr lang="en-US" sz="1800" dirty="0"/>
          </a:p>
        </p:txBody>
      </p:sp>
      <p:sp>
        <p:nvSpPr>
          <p:cNvPr id="13" name="Shape 11"/>
          <p:cNvSpPr/>
          <p:nvPr/>
        </p:nvSpPr>
        <p:spPr>
          <a:xfrm>
            <a:off x="1066800" y="4267994"/>
            <a:ext cx="10058400" cy="0"/>
          </a:xfrm>
          <a:prstGeom prst="line">
            <a:avLst/>
          </a:prstGeom>
          <a:noFill/>
          <a:ln w="12700">
            <a:solidFill>
              <a:srgbClr val="D9D6CC"/>
            </a:solidFill>
            <a:prstDash val="solid"/>
          </a:ln>
        </p:spPr>
      </p:sp>
      <p:sp>
        <p:nvSpPr>
          <p:cNvPr id="14" name="Text 12"/>
          <p:cNvSpPr/>
          <p:nvPr/>
        </p:nvSpPr>
        <p:spPr>
          <a:xfrm>
            <a:off x="1066800" y="3864719"/>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Validation</a:t>
            </a:r>
            <a:endParaRPr lang="en-US" sz="1800" dirty="0"/>
          </a:p>
        </p:txBody>
      </p:sp>
      <p:sp>
        <p:nvSpPr>
          <p:cNvPr id="15" name="Text 13"/>
          <p:cNvSpPr/>
          <p:nvPr/>
        </p:nvSpPr>
        <p:spPr>
          <a:xfrm>
            <a:off x="4114800" y="3864719"/>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29,055</a:t>
            </a:r>
            <a:endParaRPr lang="en-US" sz="1800" dirty="0"/>
          </a:p>
        </p:txBody>
      </p:sp>
      <p:sp>
        <p:nvSpPr>
          <p:cNvPr id="16" name="Text 14"/>
          <p:cNvSpPr/>
          <p:nvPr/>
        </p:nvSpPr>
        <p:spPr>
          <a:xfrm>
            <a:off x="7162800" y="3864719"/>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266 (0.92%)</a:t>
            </a:r>
            <a:endParaRPr lang="en-US" sz="1800" dirty="0"/>
          </a:p>
        </p:txBody>
      </p:sp>
      <p:sp>
        <p:nvSpPr>
          <p:cNvPr id="17" name="Text 15"/>
          <p:cNvSpPr/>
          <p:nvPr/>
        </p:nvSpPr>
        <p:spPr>
          <a:xfrm>
            <a:off x="1066800" y="4401344"/>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Test</a:t>
            </a:r>
            <a:endParaRPr lang="en-US" sz="1800" dirty="0"/>
          </a:p>
        </p:txBody>
      </p:sp>
      <p:sp>
        <p:nvSpPr>
          <p:cNvPr id="18" name="Text 16"/>
          <p:cNvSpPr/>
          <p:nvPr/>
        </p:nvSpPr>
        <p:spPr>
          <a:xfrm>
            <a:off x="4114800" y="4401344"/>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33,903</a:t>
            </a:r>
            <a:endParaRPr lang="en-US" sz="1800" dirty="0"/>
          </a:p>
        </p:txBody>
      </p:sp>
      <p:sp>
        <p:nvSpPr>
          <p:cNvPr id="19" name="Text 17"/>
          <p:cNvSpPr/>
          <p:nvPr/>
        </p:nvSpPr>
        <p:spPr>
          <a:xfrm>
            <a:off x="7162800" y="4401344"/>
            <a:ext cx="3139440" cy="29532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593 (1.75%)</a:t>
            </a:r>
            <a:endParaRPr lang="en-US" sz="1800" dirty="0"/>
          </a:p>
        </p:txBody>
      </p:sp>
      <p:sp>
        <p:nvSpPr>
          <p:cNvPr id="20" name="Text 18"/>
          <p:cNvSpPr/>
          <p:nvPr/>
        </p:nvSpPr>
        <p:spPr>
          <a:xfrm>
            <a:off x="812800" y="5255468"/>
            <a:ext cx="10883392" cy="611932"/>
          </a:xfrm>
          <a:prstGeom prst="rect">
            <a:avLst/>
          </a:prstGeom>
          <a:noFill/>
          <a:ln/>
        </p:spPr>
        <p:txBody>
          <a:bodyPr wrap="square" lIns="0" tIns="0" rIns="0" bIns="0" rtlCol="0" anchor="t">
            <a:normAutofit/>
          </a:bodyPr>
          <a:lstStyle/>
          <a:p>
            <a:pPr algn="l" indent="0" marL="0">
              <a:lnSpc>
                <a:spcPts val="2307"/>
              </a:lnSpc>
              <a:buNone/>
            </a:pPr>
            <a:r>
              <a:rPr lang="en-US" sz="1648" dirty="0">
                <a:solidFill>
                  <a:srgbClr val="14213D"/>
                </a:solidFill>
                <a:latin typeface="DM Sans" pitchFamily="34" charset="0"/>
                <a:ea typeface="DM Sans" pitchFamily="34" charset="-122"/>
                <a:cs typeface="DM Sans" pitchFamily="34" charset="-120"/>
              </a:rPr>
              <a:t>Splitting by campaign keeps related rows together, but it also means the DND rate differs by split. We keep that in mind when reading results.</a:t>
            </a:r>
            <a:endParaRPr lang="en-US" sz="164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64269"/>
          </a:xfrm>
          <a:prstGeom prst="rect">
            <a:avLst/>
          </a:prstGeom>
          <a:noFill/>
          <a:ln/>
        </p:spPr>
        <p:txBody>
          <a:bodyPr wrap="square" lIns="0" tIns="0" rIns="0" bIns="0" rtlCol="0" anchor="t">
            <a:normAutofit/>
          </a:bodyPr>
          <a:lstStyle/>
          <a:p>
            <a:pPr algn="l" indent="0" marL="0">
              <a:lnSpc>
                <a:spcPts val="1923"/>
              </a:lnSpc>
              <a:buNone/>
            </a:pPr>
            <a:r>
              <a:rPr lang="en-US" sz="1374" b="1" spc="150" kern="0" dirty="0">
                <a:solidFill>
                  <a:srgbClr val="B4400F"/>
                </a:solidFill>
                <a:latin typeface="DM Sans" pitchFamily="34" charset="0"/>
                <a:ea typeface="DM Sans" pitchFamily="34" charset="-122"/>
                <a:cs typeface="DM Sans" pitchFamily="34" charset="-120"/>
              </a:rPr>
              <a:t>3 · DESCRIPTIVE VISUALIZATIONS</a:t>
            </a:r>
            <a:endParaRPr lang="en-US" sz="1374" dirty="0"/>
          </a:p>
        </p:txBody>
      </p:sp>
      <p:sp>
        <p:nvSpPr>
          <p:cNvPr id="3" name="Text 1"/>
          <p:cNvSpPr/>
          <p:nvPr>
            <p:ph type="title"/>
          </p:nvPr>
        </p:nvSpPr>
        <p:spPr>
          <a:xfrm>
            <a:off x="812800" y="1356469"/>
            <a:ext cx="10883392" cy="508099"/>
          </a:xfrm>
          <a:prstGeom prst="rect">
            <a:avLst/>
          </a:prstGeom>
          <a:noFill/>
          <a:ln/>
        </p:spPr>
        <p:txBody>
          <a:bodyPr wrap="square" lIns="0" tIns="0" rIns="0" bIns="0" rtlCol="0" anchor="t">
            <a:normAutofit/>
          </a:bodyPr>
          <a:lstStyle/>
          <a:p>
            <a:pPr algn="l" indent="0" marL="0">
              <a:lnSpc>
                <a:spcPts val="3824"/>
              </a:lnSpc>
              <a:buNone/>
            </a:pPr>
            <a:r>
              <a:rPr lang="en-US" sz="3476" b="1" i="0" dirty="0">
                <a:solidFill>
                  <a:srgbClr val="14213D"/>
                </a:solidFill>
                <a:latin typeface="DM Sans" pitchFamily="34" charset="0"/>
                <a:ea typeface="DM Sans" pitchFamily="34" charset="-122"/>
                <a:cs typeface="DM Sans" pitchFamily="34" charset="-120"/>
              </a:rPr>
              <a:t>DND is rare, and its rate shifts across the splits</a:t>
            </a:r>
            <a:endParaRPr lang="en-US" sz="3476" dirty="0"/>
          </a:p>
        </p:txBody>
      </p:sp>
      <p:sp>
        <p:nvSpPr>
          <p:cNvPr id="4" name="Shape 2"/>
          <p:cNvSpPr/>
          <p:nvPr/>
        </p:nvSpPr>
        <p:spPr>
          <a:xfrm>
            <a:off x="812800" y="2143968"/>
            <a:ext cx="10566400" cy="2778820"/>
          </a:xfrm>
          <a:prstGeom prst="roundRect">
            <a:avLst>
              <a:gd name="adj" fmla="val 4570"/>
            </a:avLst>
          </a:prstGeom>
          <a:solidFill>
            <a:srgbClr val="FFFFFF"/>
          </a:solidFill>
          <a:ln/>
        </p:spPr>
      </p:sp>
      <p:sp>
        <p:nvSpPr>
          <p:cNvPr id="5" name="Text 3"/>
          <p:cNvSpPr/>
          <p:nvPr/>
        </p:nvSpPr>
        <p:spPr>
          <a:xfrm>
            <a:off x="1168400" y="2499568"/>
            <a:ext cx="10150856" cy="259606"/>
          </a:xfrm>
          <a:prstGeom prst="rect">
            <a:avLst/>
          </a:prstGeom>
          <a:noFill/>
          <a:ln/>
        </p:spPr>
        <p:txBody>
          <a:bodyPr wrap="square" lIns="0" tIns="0" rIns="0" bIns="0" rtlCol="0" anchor="t">
            <a:normAutofit/>
          </a:bodyPr>
          <a:lstStyle/>
          <a:p>
            <a:pPr algn="l" indent="0" marL="0">
              <a:lnSpc>
                <a:spcPts val="1874"/>
              </a:lnSpc>
              <a:buNone/>
            </a:pPr>
            <a:r>
              <a:rPr lang="en-US" sz="1339" b="1" dirty="0">
                <a:solidFill>
                  <a:srgbClr val="3B4663"/>
                </a:solidFill>
                <a:latin typeface="DM Sans" pitchFamily="34" charset="0"/>
                <a:ea typeface="DM Sans" pitchFamily="34" charset="-122"/>
                <a:cs typeface="DM Sans" pitchFamily="34" charset="-120"/>
              </a:rPr>
              <a:t>Share of rows with a DND advisory</a:t>
            </a:r>
            <a:endParaRPr lang="en-US" sz="1339" dirty="0"/>
          </a:p>
        </p:txBody>
      </p:sp>
      <p:sp>
        <p:nvSpPr>
          <p:cNvPr id="6" name="Text 4"/>
          <p:cNvSpPr/>
          <p:nvPr/>
        </p:nvSpPr>
        <p:spPr>
          <a:xfrm>
            <a:off x="1168400" y="2993628"/>
            <a:ext cx="1574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Train</a:t>
            </a:r>
            <a:endParaRPr lang="en-US" sz="1800" dirty="0"/>
          </a:p>
        </p:txBody>
      </p:sp>
      <p:sp>
        <p:nvSpPr>
          <p:cNvPr id="7" name="Shape 5"/>
          <p:cNvSpPr/>
          <p:nvPr/>
        </p:nvSpPr>
        <p:spPr>
          <a:xfrm>
            <a:off x="2895600" y="2950468"/>
            <a:ext cx="2387600" cy="406400"/>
          </a:xfrm>
          <a:prstGeom prst="roundRect">
            <a:avLst>
              <a:gd name="adj" fmla="val 12500"/>
            </a:avLst>
          </a:prstGeom>
          <a:solidFill>
            <a:srgbClr val="8A94AB"/>
          </a:solidFill>
          <a:ln/>
        </p:spPr>
      </p:sp>
      <p:sp>
        <p:nvSpPr>
          <p:cNvPr id="8" name="Text 6"/>
          <p:cNvSpPr/>
          <p:nvPr/>
        </p:nvSpPr>
        <p:spPr>
          <a:xfrm>
            <a:off x="5486400" y="2993628"/>
            <a:ext cx="836295"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0.66%</a:t>
            </a:r>
            <a:endParaRPr lang="en-US" sz="1800" dirty="0"/>
          </a:p>
        </p:txBody>
      </p:sp>
      <p:sp>
        <p:nvSpPr>
          <p:cNvPr id="9" name="Text 7"/>
          <p:cNvSpPr/>
          <p:nvPr/>
        </p:nvSpPr>
        <p:spPr>
          <a:xfrm>
            <a:off x="1168400" y="3604766"/>
            <a:ext cx="1574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Validation</a:t>
            </a:r>
            <a:endParaRPr lang="en-US" sz="1800" dirty="0"/>
          </a:p>
        </p:txBody>
      </p:sp>
      <p:sp>
        <p:nvSpPr>
          <p:cNvPr id="10" name="Shape 8"/>
          <p:cNvSpPr/>
          <p:nvPr/>
        </p:nvSpPr>
        <p:spPr>
          <a:xfrm>
            <a:off x="2895600" y="3561606"/>
            <a:ext cx="3321050" cy="406400"/>
          </a:xfrm>
          <a:prstGeom prst="roundRect">
            <a:avLst>
              <a:gd name="adj" fmla="val 12500"/>
            </a:avLst>
          </a:prstGeom>
          <a:solidFill>
            <a:srgbClr val="8A94AB"/>
          </a:solidFill>
          <a:ln/>
        </p:spPr>
      </p:sp>
      <p:sp>
        <p:nvSpPr>
          <p:cNvPr id="11" name="Text 9"/>
          <p:cNvSpPr/>
          <p:nvPr/>
        </p:nvSpPr>
        <p:spPr>
          <a:xfrm>
            <a:off x="6419850" y="3604766"/>
            <a:ext cx="820757"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0.92%</a:t>
            </a:r>
            <a:endParaRPr lang="en-US" sz="1800" dirty="0"/>
          </a:p>
        </p:txBody>
      </p:sp>
      <p:sp>
        <p:nvSpPr>
          <p:cNvPr id="12" name="Text 10"/>
          <p:cNvSpPr/>
          <p:nvPr/>
        </p:nvSpPr>
        <p:spPr>
          <a:xfrm>
            <a:off x="1168400" y="4215904"/>
            <a:ext cx="1574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DM Sans" pitchFamily="34" charset="0"/>
                <a:ea typeface="DM Sans" pitchFamily="34" charset="-122"/>
                <a:cs typeface="DM Sans" pitchFamily="34" charset="-120"/>
              </a:rPr>
              <a:t>Test</a:t>
            </a:r>
            <a:endParaRPr lang="en-US" sz="1800" dirty="0"/>
          </a:p>
        </p:txBody>
      </p:sp>
      <p:sp>
        <p:nvSpPr>
          <p:cNvPr id="13" name="Shape 11"/>
          <p:cNvSpPr/>
          <p:nvPr/>
        </p:nvSpPr>
        <p:spPr>
          <a:xfrm>
            <a:off x="2895600" y="4172744"/>
            <a:ext cx="6350000" cy="406400"/>
          </a:xfrm>
          <a:prstGeom prst="roundRect">
            <a:avLst>
              <a:gd name="adj" fmla="val 12500"/>
            </a:avLst>
          </a:prstGeom>
          <a:solidFill>
            <a:srgbClr val="B4400F"/>
          </a:solidFill>
          <a:ln/>
        </p:spPr>
      </p:sp>
      <p:sp>
        <p:nvSpPr>
          <p:cNvPr id="14" name="Text 12"/>
          <p:cNvSpPr/>
          <p:nvPr/>
        </p:nvSpPr>
        <p:spPr>
          <a:xfrm>
            <a:off x="9448800" y="4215904"/>
            <a:ext cx="71913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1.75%</a:t>
            </a:r>
            <a:endParaRPr lang="en-US" sz="1800" dirty="0"/>
          </a:p>
        </p:txBody>
      </p:sp>
      <p:sp>
        <p:nvSpPr>
          <p:cNvPr id="15" name="Text 13"/>
          <p:cNvSpPr/>
          <p:nvPr/>
        </p:nvSpPr>
        <p:spPr>
          <a:xfrm>
            <a:off x="812800" y="5227588"/>
            <a:ext cx="10883392" cy="639812"/>
          </a:xfrm>
          <a:prstGeom prst="rect">
            <a:avLst/>
          </a:prstGeom>
          <a:noFill/>
          <a:ln/>
        </p:spPr>
        <p:txBody>
          <a:bodyPr wrap="square" lIns="0" tIns="0" rIns="0" bIns="0" rtlCol="0" anchor="t">
            <a:normAutofit/>
          </a:bodyPr>
          <a:lstStyle/>
          <a:p>
            <a:pPr algn="l" indent="0" marL="0">
              <a:lnSpc>
                <a:spcPts val="2433"/>
              </a:lnSpc>
              <a:buNone/>
            </a:pPr>
            <a:r>
              <a:rPr lang="en-US" sz="1738" dirty="0">
                <a:solidFill>
                  <a:srgbClr val="14213D"/>
                </a:solidFill>
                <a:latin typeface="DM Sans" pitchFamily="34" charset="0"/>
                <a:ea typeface="DM Sans" pitchFamily="34" charset="-122"/>
                <a:cs typeface="DM Sans" pitchFamily="34" charset="-120"/>
              </a:rPr>
              <a:t>About 1 in 120 rows overall (0.83%). Accuracy alone would be meaningless here, so we judge models with precision-recall measures.</a:t>
            </a:r>
            <a:endParaRPr lang="en-US" sz="173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3263"/>
          </a:xfrm>
          <a:prstGeom prst="rect">
            <a:avLst/>
          </a:prstGeom>
          <a:noFill/>
          <a:ln/>
        </p:spPr>
        <p:txBody>
          <a:bodyPr wrap="square" lIns="0" tIns="0" rIns="0" bIns="0" rtlCol="0" anchor="t">
            <a:normAutofit/>
          </a:bodyPr>
          <a:lstStyle/>
          <a:p>
            <a:pPr algn="l" indent="0" marL="0">
              <a:lnSpc>
                <a:spcPts val="1672"/>
              </a:lnSpc>
              <a:buNone/>
            </a:pPr>
            <a:r>
              <a:rPr lang="en-US" sz="1194" b="1" spc="150" kern="0" dirty="0">
                <a:solidFill>
                  <a:srgbClr val="B4400F"/>
                </a:solidFill>
                <a:latin typeface="DM Sans" pitchFamily="34" charset="0"/>
                <a:ea typeface="DM Sans" pitchFamily="34" charset="-122"/>
                <a:cs typeface="DM Sans" pitchFamily="34" charset="-120"/>
              </a:rPr>
              <a:t>3 · DESCRIPTIVE VISUALIZATIONS</a:t>
            </a:r>
            <a:endParaRPr lang="en-US" sz="1194" dirty="0"/>
          </a:p>
        </p:txBody>
      </p:sp>
      <p:sp>
        <p:nvSpPr>
          <p:cNvPr id="3" name="Text 1"/>
          <p:cNvSpPr/>
          <p:nvPr>
            <p:ph type="title"/>
          </p:nvPr>
        </p:nvSpPr>
        <p:spPr>
          <a:xfrm>
            <a:off x="812800" y="1274663"/>
            <a:ext cx="10883392" cy="865535"/>
          </a:xfrm>
          <a:prstGeom prst="rect">
            <a:avLst/>
          </a:prstGeom>
          <a:noFill/>
          <a:ln/>
        </p:spPr>
        <p:txBody>
          <a:bodyPr wrap="square" lIns="0" tIns="0" rIns="0" bIns="0" rtlCol="0" anchor="t">
            <a:normAutofit/>
          </a:bodyPr>
          <a:lstStyle/>
          <a:p>
            <a:pPr algn="l" indent="0" marL="0">
              <a:lnSpc>
                <a:spcPts val="3304"/>
              </a:lnSpc>
              <a:buNone/>
            </a:pPr>
            <a:r>
              <a:rPr lang="en-US" sz="3004" b="1" i="0" dirty="0">
                <a:solidFill>
                  <a:srgbClr val="14213D"/>
                </a:solidFill>
                <a:latin typeface="DM Sans" pitchFamily="34" charset="0"/>
                <a:ea typeface="DM Sans" pitchFamily="34" charset="-122"/>
                <a:cs typeface="DM Sans" pitchFamily="34" charset="-120"/>
              </a:rPr>
              <a:t>Manufacturer and vehicle cues carry the strongest DND lift</a:t>
            </a:r>
            <a:endParaRPr lang="en-US" sz="3004" dirty="0"/>
          </a:p>
        </p:txBody>
      </p:sp>
      <p:sp>
        <p:nvSpPr>
          <p:cNvPr id="4" name="Shape 2"/>
          <p:cNvSpPr/>
          <p:nvPr/>
        </p:nvSpPr>
        <p:spPr>
          <a:xfrm>
            <a:off x="812800" y="2368798"/>
            <a:ext cx="10566400" cy="2803426"/>
          </a:xfrm>
          <a:prstGeom prst="roundRect">
            <a:avLst>
              <a:gd name="adj" fmla="val 4530"/>
            </a:avLst>
          </a:prstGeom>
          <a:solidFill>
            <a:srgbClr val="FFFFFF"/>
          </a:solidFill>
          <a:ln/>
        </p:spPr>
      </p:sp>
      <p:sp>
        <p:nvSpPr>
          <p:cNvPr id="5" name="Text 3"/>
          <p:cNvSpPr/>
          <p:nvPr/>
        </p:nvSpPr>
        <p:spPr>
          <a:xfrm>
            <a:off x="1168400" y="2648198"/>
            <a:ext cx="10150856" cy="217041"/>
          </a:xfrm>
          <a:prstGeom prst="rect">
            <a:avLst/>
          </a:prstGeom>
          <a:noFill/>
          <a:ln/>
        </p:spPr>
        <p:txBody>
          <a:bodyPr wrap="square" lIns="0" tIns="0" rIns="0" bIns="0" rtlCol="0" anchor="t">
            <a:normAutofit/>
          </a:bodyPr>
          <a:lstStyle/>
          <a:p>
            <a:pPr algn="l" indent="0" marL="0">
              <a:lnSpc>
                <a:spcPts val="1519"/>
              </a:lnSpc>
              <a:buNone/>
            </a:pPr>
            <a:r>
              <a:rPr lang="en-US" sz="1085" b="1" dirty="0">
                <a:solidFill>
                  <a:srgbClr val="3B4663"/>
                </a:solidFill>
                <a:latin typeface="DM Sans" pitchFamily="34" charset="0"/>
                <a:ea typeface="DM Sans" pitchFamily="34" charset="-122"/>
                <a:cs typeface="DM Sans" pitchFamily="34" charset="-120"/>
              </a:rPr>
              <a:t>DND rate vs. the 0.66% training baseline (training data)</a:t>
            </a:r>
            <a:endParaRPr lang="en-US" sz="1085" dirty="0"/>
          </a:p>
        </p:txBody>
      </p:sp>
      <p:sp>
        <p:nvSpPr>
          <p:cNvPr id="6" name="Text 4"/>
          <p:cNvSpPr/>
          <p:nvPr/>
        </p:nvSpPr>
        <p:spPr>
          <a:xfrm>
            <a:off x="1168400" y="295002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DM Sans" pitchFamily="34" charset="0"/>
                <a:ea typeface="DM Sans" pitchFamily="34" charset="-122"/>
                <a:cs typeface="DM Sans" pitchFamily="34" charset="-120"/>
              </a:rPr>
              <a:t>Yamaha (maker)</a:t>
            </a:r>
            <a:endParaRPr lang="en-US" sz="1400" dirty="0"/>
          </a:p>
        </p:txBody>
      </p:sp>
      <p:sp>
        <p:nvSpPr>
          <p:cNvPr id="7" name="Shape 5"/>
          <p:cNvSpPr/>
          <p:nvPr/>
        </p:nvSpPr>
        <p:spPr>
          <a:xfrm>
            <a:off x="3606800" y="2934742"/>
            <a:ext cx="6350000" cy="279400"/>
          </a:xfrm>
          <a:prstGeom prst="roundRect">
            <a:avLst>
              <a:gd name="adj" fmla="val 13636"/>
            </a:avLst>
          </a:prstGeom>
          <a:solidFill>
            <a:srgbClr val="B4400F"/>
          </a:solidFill>
          <a:ln/>
        </p:spPr>
      </p:sp>
      <p:sp>
        <p:nvSpPr>
          <p:cNvPr id="8" name="Text 6"/>
          <p:cNvSpPr/>
          <p:nvPr/>
        </p:nvSpPr>
        <p:spPr>
          <a:xfrm>
            <a:off x="10109200" y="2950021"/>
            <a:ext cx="58406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DM Sans" pitchFamily="34" charset="0"/>
                <a:ea typeface="DM Sans" pitchFamily="34" charset="-122"/>
                <a:cs typeface="DM Sans" pitchFamily="34" charset="-120"/>
              </a:rPr>
              <a:t>84.8x</a:t>
            </a:r>
            <a:endParaRPr lang="en-US" sz="1400" dirty="0"/>
          </a:p>
        </p:txBody>
      </p:sp>
      <p:sp>
        <p:nvSpPr>
          <p:cNvPr id="9" name="Text 7"/>
          <p:cNvSpPr/>
          <p:nvPr/>
        </p:nvSpPr>
        <p:spPr>
          <a:xfrm>
            <a:off x="1168400" y="3292177"/>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DM Sans" pitchFamily="34" charset="0"/>
                <a:ea typeface="DM Sans" pitchFamily="34" charset="-122"/>
                <a:cs typeface="DM Sans" pitchFamily="34" charset="-120"/>
              </a:rPr>
              <a:t>Mazda (maker)</a:t>
            </a:r>
            <a:endParaRPr lang="en-US" sz="1400" dirty="0"/>
          </a:p>
        </p:txBody>
      </p:sp>
      <p:sp>
        <p:nvSpPr>
          <p:cNvPr id="10" name="Shape 8"/>
          <p:cNvSpPr/>
          <p:nvPr/>
        </p:nvSpPr>
        <p:spPr>
          <a:xfrm>
            <a:off x="3606800" y="3276947"/>
            <a:ext cx="3663950" cy="279400"/>
          </a:xfrm>
          <a:prstGeom prst="roundRect">
            <a:avLst>
              <a:gd name="adj" fmla="val 13636"/>
            </a:avLst>
          </a:prstGeom>
          <a:solidFill>
            <a:srgbClr val="B4400F"/>
          </a:solidFill>
          <a:ln/>
        </p:spPr>
      </p:sp>
      <p:sp>
        <p:nvSpPr>
          <p:cNvPr id="11" name="Text 9"/>
          <p:cNvSpPr/>
          <p:nvPr/>
        </p:nvSpPr>
        <p:spPr>
          <a:xfrm>
            <a:off x="7423150" y="3292177"/>
            <a:ext cx="57804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DM Sans" pitchFamily="34" charset="0"/>
                <a:ea typeface="DM Sans" pitchFamily="34" charset="-122"/>
                <a:cs typeface="DM Sans" pitchFamily="34" charset="-120"/>
              </a:rPr>
              <a:t>48.9x</a:t>
            </a:r>
            <a:endParaRPr lang="en-US" sz="1400" dirty="0"/>
          </a:p>
        </p:txBody>
      </p:sp>
      <p:sp>
        <p:nvSpPr>
          <p:cNvPr id="12" name="Text 10"/>
          <p:cNvSpPr/>
          <p:nvPr/>
        </p:nvSpPr>
        <p:spPr>
          <a:xfrm>
            <a:off x="1168400" y="3634333"/>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DM Sans" pitchFamily="34" charset="0"/>
                <a:ea typeface="DM Sans" pitchFamily="34" charset="-122"/>
                <a:cs typeface="DM Sans" pitchFamily="34" charset="-120"/>
              </a:rPr>
              <a:t>“dodge” in text</a:t>
            </a:r>
            <a:endParaRPr lang="en-US" sz="1400" dirty="0"/>
          </a:p>
        </p:txBody>
      </p:sp>
      <p:sp>
        <p:nvSpPr>
          <p:cNvPr id="13" name="Shape 11"/>
          <p:cNvSpPr/>
          <p:nvPr/>
        </p:nvSpPr>
        <p:spPr>
          <a:xfrm>
            <a:off x="3606800" y="3619103"/>
            <a:ext cx="1149350" cy="279400"/>
          </a:xfrm>
          <a:prstGeom prst="roundRect">
            <a:avLst>
              <a:gd name="adj" fmla="val 13636"/>
            </a:avLst>
          </a:prstGeom>
          <a:solidFill>
            <a:srgbClr val="8A94AB"/>
          </a:solidFill>
          <a:ln/>
        </p:spPr>
      </p:sp>
      <p:sp>
        <p:nvSpPr>
          <p:cNvPr id="14" name="Text 12"/>
          <p:cNvSpPr/>
          <p:nvPr/>
        </p:nvSpPr>
        <p:spPr>
          <a:xfrm>
            <a:off x="4908550" y="3634333"/>
            <a:ext cx="5144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DM Sans" pitchFamily="34" charset="0"/>
                <a:ea typeface="DM Sans" pitchFamily="34" charset="-122"/>
                <a:cs typeface="DM Sans" pitchFamily="34" charset="-120"/>
              </a:rPr>
              <a:t>15.3x</a:t>
            </a:r>
            <a:endParaRPr lang="en-US" sz="1400" dirty="0"/>
          </a:p>
        </p:txBody>
      </p:sp>
      <p:sp>
        <p:nvSpPr>
          <p:cNvPr id="15" name="Text 13"/>
          <p:cNvSpPr/>
          <p:nvPr/>
        </p:nvSpPr>
        <p:spPr>
          <a:xfrm>
            <a:off x="1168400" y="3976489"/>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DM Sans" pitchFamily="34" charset="0"/>
                <a:ea typeface="DM Sans" pitchFamily="34" charset="-122"/>
                <a:cs typeface="DM Sans" pitchFamily="34" charset="-120"/>
              </a:rPr>
              <a:t>“bmw” in text</a:t>
            </a:r>
            <a:endParaRPr lang="en-US" sz="1400" dirty="0"/>
          </a:p>
        </p:txBody>
      </p:sp>
      <p:sp>
        <p:nvSpPr>
          <p:cNvPr id="16" name="Shape 14"/>
          <p:cNvSpPr/>
          <p:nvPr/>
        </p:nvSpPr>
        <p:spPr>
          <a:xfrm>
            <a:off x="3606800" y="3961259"/>
            <a:ext cx="965200" cy="279400"/>
          </a:xfrm>
          <a:prstGeom prst="roundRect">
            <a:avLst>
              <a:gd name="adj" fmla="val 13636"/>
            </a:avLst>
          </a:prstGeom>
          <a:solidFill>
            <a:srgbClr val="8A94AB"/>
          </a:solidFill>
          <a:ln/>
        </p:spPr>
      </p:sp>
      <p:sp>
        <p:nvSpPr>
          <p:cNvPr id="17" name="Text 15"/>
          <p:cNvSpPr/>
          <p:nvPr/>
        </p:nvSpPr>
        <p:spPr>
          <a:xfrm>
            <a:off x="4724400" y="3976489"/>
            <a:ext cx="50518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DM Sans" pitchFamily="34" charset="0"/>
                <a:ea typeface="DM Sans" pitchFamily="34" charset="-122"/>
                <a:cs typeface="DM Sans" pitchFamily="34" charset="-120"/>
              </a:rPr>
              <a:t>12.9x</a:t>
            </a:r>
            <a:endParaRPr lang="en-US" sz="1400" dirty="0"/>
          </a:p>
        </p:txBody>
      </p:sp>
      <p:sp>
        <p:nvSpPr>
          <p:cNvPr id="18" name="Text 16"/>
          <p:cNvSpPr/>
          <p:nvPr/>
        </p:nvSpPr>
        <p:spPr>
          <a:xfrm>
            <a:off x="1168400" y="4318645"/>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DM Sans" pitchFamily="34" charset="0"/>
                <a:ea typeface="DM Sans" pitchFamily="34" charset="-122"/>
                <a:cs typeface="DM Sans" pitchFamily="34" charset="-120"/>
              </a:rPr>
              <a:t>“performance” in text</a:t>
            </a:r>
            <a:endParaRPr lang="en-US" sz="1400" dirty="0"/>
          </a:p>
        </p:txBody>
      </p:sp>
      <p:sp>
        <p:nvSpPr>
          <p:cNvPr id="19" name="Shape 17"/>
          <p:cNvSpPr/>
          <p:nvPr/>
        </p:nvSpPr>
        <p:spPr>
          <a:xfrm>
            <a:off x="3606800" y="4303415"/>
            <a:ext cx="927100" cy="279400"/>
          </a:xfrm>
          <a:prstGeom prst="roundRect">
            <a:avLst>
              <a:gd name="adj" fmla="val 13636"/>
            </a:avLst>
          </a:prstGeom>
          <a:solidFill>
            <a:srgbClr val="8A94AB"/>
          </a:solidFill>
          <a:ln/>
        </p:spPr>
      </p:sp>
      <p:sp>
        <p:nvSpPr>
          <p:cNvPr id="20" name="Text 18"/>
          <p:cNvSpPr/>
          <p:nvPr/>
        </p:nvSpPr>
        <p:spPr>
          <a:xfrm>
            <a:off x="4686300" y="4318645"/>
            <a:ext cx="51512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DM Sans" pitchFamily="34" charset="0"/>
                <a:ea typeface="DM Sans" pitchFamily="34" charset="-122"/>
                <a:cs typeface="DM Sans" pitchFamily="34" charset="-120"/>
              </a:rPr>
              <a:t>12.4x</a:t>
            </a:r>
            <a:endParaRPr lang="en-US" sz="1400" dirty="0"/>
          </a:p>
        </p:txBody>
      </p:sp>
      <p:sp>
        <p:nvSpPr>
          <p:cNvPr id="21" name="Text 19"/>
          <p:cNvSpPr/>
          <p:nvPr/>
        </p:nvSpPr>
        <p:spPr>
          <a:xfrm>
            <a:off x="1168400" y="4660801"/>
            <a:ext cx="23545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DM Sans" pitchFamily="34" charset="0"/>
                <a:ea typeface="DM Sans" pitchFamily="34" charset="-122"/>
                <a:cs typeface="DM Sans" pitchFamily="34" charset="-120"/>
              </a:rPr>
              <a:t>“steering” in text</a:t>
            </a:r>
            <a:endParaRPr lang="en-US" sz="1400" dirty="0"/>
          </a:p>
        </p:txBody>
      </p:sp>
      <p:sp>
        <p:nvSpPr>
          <p:cNvPr id="22" name="Shape 20"/>
          <p:cNvSpPr/>
          <p:nvPr/>
        </p:nvSpPr>
        <p:spPr>
          <a:xfrm>
            <a:off x="3606800" y="4645571"/>
            <a:ext cx="177800" cy="279400"/>
          </a:xfrm>
          <a:prstGeom prst="roundRect">
            <a:avLst>
              <a:gd name="adj" fmla="val 21429"/>
            </a:avLst>
          </a:prstGeom>
          <a:solidFill>
            <a:srgbClr val="8A94AB"/>
          </a:solidFill>
          <a:ln/>
        </p:spPr>
      </p:sp>
      <p:sp>
        <p:nvSpPr>
          <p:cNvPr id="23" name="Text 21"/>
          <p:cNvSpPr/>
          <p:nvPr/>
        </p:nvSpPr>
        <p:spPr>
          <a:xfrm>
            <a:off x="3937000" y="4660801"/>
            <a:ext cx="43755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DM Sans" pitchFamily="34" charset="0"/>
                <a:ea typeface="DM Sans" pitchFamily="34" charset="-122"/>
                <a:cs typeface="DM Sans" pitchFamily="34" charset="-120"/>
              </a:rPr>
              <a:t>2.4x</a:t>
            </a:r>
            <a:endParaRPr lang="en-US" sz="1400" dirty="0"/>
          </a:p>
        </p:txBody>
      </p:sp>
      <p:sp>
        <p:nvSpPr>
          <p:cNvPr id="24" name="Text 22"/>
          <p:cNvSpPr/>
          <p:nvPr/>
        </p:nvSpPr>
        <p:spPr>
          <a:xfrm>
            <a:off x="812800" y="5426224"/>
            <a:ext cx="11379200" cy="441176"/>
          </a:xfrm>
          <a:prstGeom prst="rect">
            <a:avLst/>
          </a:prstGeom>
          <a:noFill/>
          <a:ln/>
        </p:spPr>
        <p:txBody>
          <a:bodyPr wrap="square" lIns="0" tIns="0" rIns="0" bIns="0" rtlCol="0" anchor="t">
            <a:normAutofit/>
          </a:bodyPr>
          <a:lstStyle/>
          <a:p>
            <a:pPr algn="l" indent="0" marL="0">
              <a:lnSpc>
                <a:spcPts val="1893"/>
              </a:lnSpc>
              <a:buNone/>
            </a:pPr>
            <a:r>
              <a:rPr lang="en-US" sz="1352" dirty="0">
                <a:solidFill>
                  <a:srgbClr val="14213D"/>
                </a:solidFill>
                <a:latin typeface="DM Sans" pitchFamily="34" charset="0"/>
                <a:ea typeface="DM Sans" pitchFamily="34" charset="-122"/>
                <a:cs typeface="DM Sans" pitchFamily="34" charset="-120"/>
              </a:rPr>
              <a:t>Lower-risk cues: “possibly” 0.25x, “2020” 0.33x, “battery” 0.51x. Large lifts rest on small groups, so we treat them as signals, not proof.</a:t>
            </a:r>
            <a:endParaRPr lang="en-US" sz="13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59E6B"/>
                </a:solidFill>
                <a:latin typeface="DM Sans" pitchFamily="34" charset="0"/>
                <a:ea typeface="DM Sans" pitchFamily="34" charset="-122"/>
                <a:cs typeface="DM Sans" pitchFamily="34" charset="-120"/>
              </a:rPr>
              <a:t>4 · PROJECT DIRECTION AND PROPOSED METHOD</a:t>
            </a:r>
            <a:endParaRPr lang="en-US" sz="1400" dirty="0"/>
          </a:p>
        </p:txBody>
      </p:sp>
      <p:sp>
        <p:nvSpPr>
          <p:cNvPr id="3" name="Text 1"/>
          <p:cNvSpPr/>
          <p:nvPr>
            <p:ph type="title"/>
          </p:nvPr>
        </p:nvSpPr>
        <p:spPr>
          <a:xfrm>
            <a:off x="812800" y="134109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1"/>
                </a:solidFill>
                <a:latin typeface="DM Sans" pitchFamily="34" charset="0"/>
                <a:ea typeface="DM Sans" pitchFamily="34" charset="-122"/>
                <a:cs typeface="DM Sans" pitchFamily="34" charset="-120"/>
              </a:rPr>
              <a:t>Model-centered: LightGBM on text and recall attributes</a:t>
            </a:r>
            <a:endParaRPr lang="en-US" sz="3600" dirty="0"/>
          </a:p>
        </p:txBody>
      </p:sp>
      <p:sp>
        <p:nvSpPr>
          <p:cNvPr id="4" name="Shape 2"/>
          <p:cNvSpPr/>
          <p:nvPr/>
        </p:nvSpPr>
        <p:spPr>
          <a:xfrm>
            <a:off x="812800" y="2626271"/>
            <a:ext cx="3352800" cy="1666180"/>
          </a:xfrm>
          <a:prstGeom prst="roundRect">
            <a:avLst>
              <a:gd name="adj" fmla="val 7622"/>
            </a:avLst>
          </a:prstGeom>
          <a:solidFill>
            <a:srgbClr val="22325A"/>
          </a:solidFill>
          <a:ln/>
        </p:spPr>
      </p:sp>
      <p:sp>
        <p:nvSpPr>
          <p:cNvPr id="5" name="Text 3"/>
          <p:cNvSpPr/>
          <p:nvPr/>
        </p:nvSpPr>
        <p:spPr>
          <a:xfrm>
            <a:off x="1066800" y="2880271"/>
            <a:ext cx="29301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9E6B"/>
                </a:solidFill>
                <a:latin typeface="DM Sans" pitchFamily="34" charset="0"/>
                <a:ea typeface="DM Sans" pitchFamily="34" charset="-122"/>
                <a:cs typeface="DM Sans" pitchFamily="34" charset="-120"/>
              </a:rPr>
              <a:t>0.73</a:t>
            </a:r>
            <a:endParaRPr lang="en-US" sz="4800" dirty="0"/>
          </a:p>
        </p:txBody>
      </p:sp>
      <p:sp>
        <p:nvSpPr>
          <p:cNvPr id="6" name="Text 4"/>
          <p:cNvSpPr/>
          <p:nvPr/>
        </p:nvSpPr>
        <p:spPr>
          <a:xfrm>
            <a:off x="1066800" y="3540671"/>
            <a:ext cx="29301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2EE"/>
                </a:solidFill>
                <a:latin typeface="DM Sans" pitchFamily="34" charset="0"/>
                <a:ea typeface="DM Sans" pitchFamily="34" charset="-122"/>
                <a:cs typeface="DM Sans" pitchFamily="34" charset="-120"/>
              </a:rPr>
              <a:t>test PR-AUC (ROC-AUC 0.93)</a:t>
            </a:r>
            <a:endParaRPr lang="en-US" sz="1400" dirty="0"/>
          </a:p>
        </p:txBody>
      </p:sp>
      <p:sp>
        <p:nvSpPr>
          <p:cNvPr id="7" name="Shape 5"/>
          <p:cNvSpPr/>
          <p:nvPr/>
        </p:nvSpPr>
        <p:spPr>
          <a:xfrm>
            <a:off x="4419600" y="2626271"/>
            <a:ext cx="3352800" cy="1666180"/>
          </a:xfrm>
          <a:prstGeom prst="roundRect">
            <a:avLst>
              <a:gd name="adj" fmla="val 7622"/>
            </a:avLst>
          </a:prstGeom>
          <a:solidFill>
            <a:srgbClr val="22325A"/>
          </a:solidFill>
          <a:ln/>
        </p:spPr>
      </p:sp>
      <p:sp>
        <p:nvSpPr>
          <p:cNvPr id="8" name="Text 6"/>
          <p:cNvSpPr/>
          <p:nvPr/>
        </p:nvSpPr>
        <p:spPr>
          <a:xfrm>
            <a:off x="4673600" y="2880271"/>
            <a:ext cx="29301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9E6B"/>
                </a:solidFill>
                <a:latin typeface="DM Sans" pitchFamily="34" charset="0"/>
                <a:ea typeface="DM Sans" pitchFamily="34" charset="-122"/>
                <a:cs typeface="DM Sans" pitchFamily="34" charset="-120"/>
              </a:rPr>
              <a:t>92%</a:t>
            </a:r>
            <a:endParaRPr lang="en-US" sz="4800" dirty="0"/>
          </a:p>
        </p:txBody>
      </p:sp>
      <p:sp>
        <p:nvSpPr>
          <p:cNvPr id="9" name="Text 7"/>
          <p:cNvSpPr/>
          <p:nvPr/>
        </p:nvSpPr>
        <p:spPr>
          <a:xfrm>
            <a:off x="4673600" y="3540671"/>
            <a:ext cx="29301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2EE"/>
                </a:solidFill>
                <a:latin typeface="DM Sans" pitchFamily="34" charset="0"/>
                <a:ea typeface="DM Sans" pitchFamily="34" charset="-122"/>
                <a:cs typeface="DM Sans" pitchFamily="34" charset="-120"/>
              </a:rPr>
              <a:t>precision at the 0.5 threshold</a:t>
            </a:r>
            <a:endParaRPr lang="en-US" sz="1400" dirty="0"/>
          </a:p>
        </p:txBody>
      </p:sp>
      <p:sp>
        <p:nvSpPr>
          <p:cNvPr id="10" name="Shape 8"/>
          <p:cNvSpPr/>
          <p:nvPr/>
        </p:nvSpPr>
        <p:spPr>
          <a:xfrm>
            <a:off x="8026400" y="2626271"/>
            <a:ext cx="3352800" cy="1666180"/>
          </a:xfrm>
          <a:prstGeom prst="roundRect">
            <a:avLst>
              <a:gd name="adj" fmla="val 7622"/>
            </a:avLst>
          </a:prstGeom>
          <a:solidFill>
            <a:srgbClr val="22325A"/>
          </a:solidFill>
          <a:ln/>
        </p:spPr>
      </p:sp>
      <p:sp>
        <p:nvSpPr>
          <p:cNvPr id="11" name="Text 9"/>
          <p:cNvSpPr/>
          <p:nvPr/>
        </p:nvSpPr>
        <p:spPr>
          <a:xfrm>
            <a:off x="8280400" y="2880271"/>
            <a:ext cx="293014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59E6B"/>
                </a:solidFill>
                <a:latin typeface="DM Sans" pitchFamily="34" charset="0"/>
                <a:ea typeface="DM Sans" pitchFamily="34" charset="-122"/>
                <a:cs typeface="DM Sans" pitchFamily="34" charset="-120"/>
              </a:rPr>
              <a:t>47%</a:t>
            </a:r>
            <a:endParaRPr lang="en-US" sz="4800" dirty="0"/>
          </a:p>
        </p:txBody>
      </p:sp>
      <p:sp>
        <p:nvSpPr>
          <p:cNvPr id="12" name="Text 10"/>
          <p:cNvSpPr/>
          <p:nvPr/>
        </p:nvSpPr>
        <p:spPr>
          <a:xfrm>
            <a:off x="8280400" y="3540671"/>
            <a:ext cx="29301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2EE"/>
                </a:solidFill>
                <a:latin typeface="DM Sans" pitchFamily="34" charset="0"/>
                <a:ea typeface="DM Sans" pitchFamily="34" charset="-122"/>
                <a:cs typeface="DM Sans" pitchFamily="34" charset="-120"/>
              </a:rPr>
              <a:t>recall: 276 of 593 test DND rows caught</a:t>
            </a:r>
            <a:endParaRPr lang="en-US" sz="1400" dirty="0"/>
          </a:p>
        </p:txBody>
      </p:sp>
      <p:sp>
        <p:nvSpPr>
          <p:cNvPr id="13" name="Text 11"/>
          <p:cNvSpPr/>
          <p:nvPr/>
        </p:nvSpPr>
        <p:spPr>
          <a:xfrm>
            <a:off x="812800" y="4571851"/>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5F1"/>
                </a:solidFill>
                <a:latin typeface="DM Sans" pitchFamily="34" charset="0"/>
                <a:ea typeface="DM Sans" pitchFamily="34" charset="-122"/>
                <a:cs typeface="DM Sans" pitchFamily="34" charset="-120"/>
              </a:rPr>
              <a:t>Honest caveat:</a:t>
            </a:r>
            <a:r>
              <a:rPr lang="en-US" sz="1800" dirty="0">
                <a:solidFill>
                  <a:srgbClr val="F6F5F1"/>
                </a:solidFill>
                <a:latin typeface="DM Sans" pitchFamily="34" charset="0"/>
                <a:ea typeface="DM Sans" pitchFamily="34" charset="-122"/>
                <a:cs typeface="DM Sans" pitchFamily="34" charset="-120"/>
              </a:rPr>
              <a:t> validation PR-AUC was only 0.15, so results are not yet stable across splits.</a:t>
            </a:r>
            <a:endParaRPr lang="en-US" sz="1800" dirty="0"/>
          </a:p>
        </p:txBody>
      </p:sp>
      <p:sp>
        <p:nvSpPr>
          <p:cNvPr id="14" name="Text 12"/>
          <p:cNvSpPr/>
          <p:nvPr/>
        </p:nvSpPr>
        <p:spPr>
          <a:xfrm>
            <a:off x="812800" y="5171281"/>
            <a:ext cx="10883392" cy="66546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5F1"/>
                </a:solidFill>
                <a:latin typeface="DM Sans" pitchFamily="34" charset="0"/>
                <a:ea typeface="DM Sans" pitchFamily="34" charset="-122"/>
                <a:cs typeface="DM Sans" pitchFamily="34" charset="-120"/>
              </a:rPr>
              <a:t>Next:</a:t>
            </a:r>
            <a:r>
              <a:rPr lang="en-US" sz="1800" dirty="0">
                <a:solidFill>
                  <a:srgbClr val="F6F5F1"/>
                </a:solidFill>
                <a:latin typeface="DM Sans" pitchFamily="34" charset="0"/>
                <a:ea typeface="DM Sans" pitchFamily="34" charset="-122"/>
                <a:cs typeface="DM Sans" pitchFamily="34" charset="-120"/>
              </a:rPr>
              <a:t> tune thresholds for recall, calibrate scores, explain predictions with SHAP, then an optional reviewer triage queue.</a:t>
            </a:r>
            <a:endParaRPr lang="en-US" sz="1800" dirty="0"/>
          </a:p>
        </p:txBody>
      </p:sp>
    </p:spTree>
  </p:cSld>
  <p:clrMapOvr>
    <a:masterClrMapping/>
  </p:clrMapOvr>
</p:sld>
</file>

<file path=ppt/theme/theme1.xml><?xml version="1.0" encoding="utf-8"?>
<a:theme xmlns:a="http://schemas.openxmlformats.org/drawingml/2006/main" name="Predicting Do Not Drive Orders: Team 6 Progress">
  <a:themeElements>
    <a:clrScheme name="Predicting Do Not Drive Orders: Team 6 Progress">
      <a:dk1>
        <a:srgbClr val="14213D"/>
      </a:dk1>
      <a:lt1>
        <a:srgbClr val="F6F5F1"/>
      </a:lt1>
      <a:dk2>
        <a:srgbClr val="4D566A"/>
      </a:dk2>
      <a:lt2>
        <a:srgbClr val="DFE0DF"/>
      </a:lt2>
      <a:accent1>
        <a:srgbClr val="B4400F"/>
      </a:accent1>
      <a:accent2>
        <a:srgbClr val="3B4663"/>
      </a:accent2>
      <a:accent3>
        <a:srgbClr val="F59E6B"/>
      </a:accent3>
      <a:accent4>
        <a:srgbClr val="22325A"/>
      </a:accent4>
      <a:accent5>
        <a:srgbClr val="8A94AB"/>
      </a:accent5>
      <a:accent6>
        <a:srgbClr val="DCE2EE"/>
      </a:accent6>
      <a:hlink>
        <a:srgbClr val="0563C1"/>
      </a:hlink>
      <a:folHlink>
        <a:srgbClr val="954F72"/>
      </a:folHlink>
    </a:clrScheme>
    <a:fontScheme name="Predicting Do Not Drive Orders: Team 6 Progres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Do Not Drive Orders: Team 6 Progress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2026-10-22T03:58:04Z</dcterms:created>
  <dcterms:modified xsi:type="dcterms:W3CDTF">2026-10-22T03:58:04Z</dcterms:modified>
</cp:coreProperties>
</file>